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9" r:id="rId2"/>
    <p:sldId id="258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4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0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95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18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00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60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09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49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1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68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8241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92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81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59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5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2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2154DA9-1A2D-4E10-B4AD-9A9937DE0F2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4211F-9FB3-4DE6-865F-DF81A158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65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5B8DB4-7AF1-EFAB-B3E8-1A7AAC3E5832}"/>
              </a:ext>
            </a:extLst>
          </p:cNvPr>
          <p:cNvSpPr txBox="1"/>
          <p:nvPr/>
        </p:nvSpPr>
        <p:spPr>
          <a:xfrm>
            <a:off x="1088571" y="696686"/>
            <a:ext cx="9622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Customer Segmentation Analysis</a:t>
            </a:r>
          </a:p>
          <a:p>
            <a:r>
              <a:rPr lang="en-US" b="1" dirty="0" err="1"/>
              <a:t>InternSpark</a:t>
            </a:r>
            <a:r>
              <a:rPr lang="en-US" b="1" dirty="0"/>
              <a:t> – Task 2</a:t>
            </a:r>
            <a:endParaRPr lang="en-US" dirty="0"/>
          </a:p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To segment customers using demographic and spending-related characteristics and identify actionable customer groups for targeted marketing strategies.</a:t>
            </a:r>
          </a:p>
          <a:p>
            <a:r>
              <a:rPr lang="en-US" b="1" dirty="0"/>
              <a:t>Dataset:</a:t>
            </a:r>
            <a:r>
              <a:rPr lang="en-US" dirty="0"/>
              <a:t> Customer Segmentation Dataset</a:t>
            </a:r>
            <a:br>
              <a:rPr lang="en-US" dirty="0"/>
            </a:br>
            <a:r>
              <a:rPr lang="en-US" b="1" dirty="0"/>
              <a:t>Analysis Tool:</a:t>
            </a:r>
            <a:r>
              <a:rPr lang="en-US" dirty="0"/>
              <a:t> Microsoft Excel</a:t>
            </a:r>
            <a:br>
              <a:rPr lang="en-US" dirty="0"/>
            </a:br>
            <a:r>
              <a:rPr lang="en-US" b="1" dirty="0"/>
              <a:t>Method:</a:t>
            </a:r>
            <a:r>
              <a:rPr lang="en-US" dirty="0"/>
              <a:t> Customer profiling + K-Means clustering</a:t>
            </a:r>
          </a:p>
        </p:txBody>
      </p:sp>
    </p:spTree>
    <p:extLst>
      <p:ext uri="{BB962C8B-B14F-4D97-AF65-F5344CB8AC3E}">
        <p14:creationId xmlns:p14="http://schemas.microsoft.com/office/powerpoint/2010/main" val="645543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7C2CA5-55A2-6AD5-5CCB-C732891DF7D2}"/>
              </a:ext>
            </a:extLst>
          </p:cNvPr>
          <p:cNvSpPr txBox="1"/>
          <p:nvPr/>
        </p:nvSpPr>
        <p:spPr>
          <a:xfrm>
            <a:off x="1447801" y="474345"/>
            <a:ext cx="7893636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1" dirty="0"/>
              <a:t>Objective &amp; Method</a:t>
            </a:r>
          </a:p>
          <a:p>
            <a:pPr>
              <a:buNone/>
            </a:pPr>
            <a:r>
              <a:rPr lang="en-US" b="1" dirty="0"/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Identify meaningful customer segments.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Understand the characteristics of different customer groups.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Compare customers based on demographic and spending-related factors.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Develop targeted strategies for valuable customer segments.</a:t>
            </a:r>
          </a:p>
          <a:p>
            <a:pPr>
              <a:buNone/>
            </a:pPr>
            <a:r>
              <a:rPr lang="en-US" b="1" dirty="0"/>
              <a:t>Data Preparation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Checked customer records and data fields.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Missing categorical values were handled using </a:t>
            </a:r>
            <a:r>
              <a:rPr lang="en-US" b="1" dirty="0"/>
              <a:t>“Unknown”</a:t>
            </a:r>
            <a:r>
              <a:rPr lang="en-US" dirty="0"/>
              <a:t> where appropriate.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Numeric variables were prepared for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Relevant customer characteristics were standardized before K-Means analysis.</a:t>
            </a:r>
          </a:p>
          <a:p>
            <a:pPr>
              <a:buNone/>
            </a:pPr>
            <a:r>
              <a:rPr lang="en-US" b="1" dirty="0"/>
              <a:t>Segmentation Method</a:t>
            </a:r>
          </a:p>
          <a:p>
            <a:pPr>
              <a:buNone/>
            </a:pPr>
            <a:r>
              <a:rPr lang="en-US" dirty="0"/>
              <a:t>K-Means clustering was used as an analytical segmentation method.</a:t>
            </a:r>
          </a:p>
          <a:p>
            <a:pPr>
              <a:buNone/>
            </a:pPr>
            <a:r>
              <a:rPr lang="en-US" dirty="0"/>
              <a:t>Variables considered included: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Work Experience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Family Size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Marital Status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Graduation Status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Spending Score</a:t>
            </a:r>
          </a:p>
        </p:txBody>
      </p:sp>
    </p:spTree>
    <p:extLst>
      <p:ext uri="{BB962C8B-B14F-4D97-AF65-F5344CB8AC3E}">
        <p14:creationId xmlns:p14="http://schemas.microsoft.com/office/powerpoint/2010/main" val="1227759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047421-DD6D-8863-FF8D-DE2DFE398EAC}"/>
              </a:ext>
            </a:extLst>
          </p:cNvPr>
          <p:cNvSpPr txBox="1"/>
          <p:nvPr/>
        </p:nvSpPr>
        <p:spPr>
          <a:xfrm>
            <a:off x="381000" y="413657"/>
            <a:ext cx="1139734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Segment Profiles</a:t>
            </a:r>
          </a:p>
          <a:p>
            <a:pPr>
              <a:buNone/>
            </a:pPr>
            <a:r>
              <a:rPr lang="en-US" dirty="0"/>
              <a:t>The analysis identified customer groups based on demographic and spending-related characteristics.</a:t>
            </a:r>
          </a:p>
          <a:p>
            <a:pPr>
              <a:buNone/>
            </a:pPr>
            <a:r>
              <a:rPr lang="en-US" b="1" dirty="0"/>
              <a:t>Customer Segmentation</a:t>
            </a:r>
          </a:p>
          <a:p>
            <a:pPr>
              <a:buNone/>
            </a:pPr>
            <a:r>
              <a:rPr lang="en-US" dirty="0"/>
              <a:t>The dataset also contains predefined customer segmentation labels </a:t>
            </a:r>
            <a:r>
              <a:rPr lang="en-US" b="1" dirty="0"/>
              <a:t>A, B, C and D</a:t>
            </a:r>
            <a:r>
              <a:rPr lang="en-US" dirty="0"/>
              <a:t>, which were used for additional customer profiling.</a:t>
            </a:r>
          </a:p>
          <a:p>
            <a:pPr>
              <a:buNone/>
            </a:pPr>
            <a:r>
              <a:rPr lang="en-US" b="1" dirty="0"/>
              <a:t>K-Means Output</a:t>
            </a:r>
          </a:p>
          <a:p>
            <a:pPr>
              <a:buNone/>
            </a:pPr>
            <a:r>
              <a:rPr lang="en-US" dirty="0"/>
              <a:t>Two analytical clusters were created to compare customer characteristics.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Cluster 1:</a:t>
            </a:r>
            <a:r>
              <a:rPr lang="en-US" dirty="0"/>
              <a:t> 4,638 customers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Cluster 2:</a:t>
            </a:r>
            <a:r>
              <a:rPr lang="en-US" dirty="0"/>
              <a:t> 3,430 customers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Total:</a:t>
            </a:r>
            <a:r>
              <a:rPr lang="en-US" dirty="0"/>
              <a:t> 8,068 customers</a:t>
            </a:r>
          </a:p>
          <a:p>
            <a:pPr>
              <a:buNone/>
            </a:pPr>
            <a:r>
              <a:rPr lang="en-US" b="1" dirty="0"/>
              <a:t>Profile Analysis</a:t>
            </a:r>
          </a:p>
          <a:p>
            <a:pPr>
              <a:buNone/>
            </a:pPr>
            <a:r>
              <a:rPr lang="en-US" dirty="0"/>
              <a:t>Customer groups were compared using: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Customer count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Work experience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Family size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Spending Score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Marital status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Graduation status</a:t>
            </a:r>
          </a:p>
          <a:p>
            <a:pPr>
              <a:buNone/>
            </a:pPr>
            <a:r>
              <a:rPr lang="en-US" dirty="0"/>
              <a:t>The detailed numerical profile is available in the accompanying Excel workbook.</a:t>
            </a:r>
          </a:p>
        </p:txBody>
      </p:sp>
    </p:spTree>
    <p:extLst>
      <p:ext uri="{BB962C8B-B14F-4D97-AF65-F5344CB8AC3E}">
        <p14:creationId xmlns:p14="http://schemas.microsoft.com/office/powerpoint/2010/main" val="3946036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2D5E84-3A57-215C-B9DF-7DF4D6665EDA}"/>
              </a:ext>
            </a:extLst>
          </p:cNvPr>
          <p:cNvSpPr txBox="1"/>
          <p:nvPr/>
        </p:nvSpPr>
        <p:spPr>
          <a:xfrm>
            <a:off x="777399" y="1171143"/>
            <a:ext cx="106372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Key Findings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Customers show different patterns based on their demographic characteristics and Spending Score.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The customer base can be divided into meaningful groups using multiple characteristics rather than relying on age or spending alone.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High-spending customers represent an important opportunity for customer retention and premium-product strategies.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Mid-value customers can potentially be developed through cross-selling, upselling and targeted promotional offers.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Lower-value customers can be approached through cost-effective re-engagement campaigns.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K-Means provides an additional analytical view of customer groups, while the supplied A/B/C/D segmentation provides another way to profile customers.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40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16BA74-FB38-A0AB-E811-44DCD52ED8D1}"/>
              </a:ext>
            </a:extLst>
          </p:cNvPr>
          <p:cNvSpPr txBox="1"/>
          <p:nvPr/>
        </p:nvSpPr>
        <p:spPr>
          <a:xfrm>
            <a:off x="576943" y="685800"/>
            <a:ext cx="1025780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1" dirty="0"/>
              <a:t>Targeted Recommendations</a:t>
            </a:r>
          </a:p>
          <a:p>
            <a:pPr>
              <a:buNone/>
            </a:pPr>
            <a:r>
              <a:rPr lang="en-US" b="1" dirty="0"/>
              <a:t>1. High-Value Customers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Introduce loyalty and reward programs.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Provide personalized offers based on customer preferences.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Promote premium products and exclusive deals.</a:t>
            </a:r>
          </a:p>
          <a:p>
            <a:pPr>
              <a:buNone/>
            </a:pPr>
            <a:r>
              <a:rPr lang="en-US" b="1" dirty="0"/>
              <a:t>Expected impact:</a:t>
            </a:r>
            <a:r>
              <a:rPr lang="en-US" dirty="0"/>
              <a:t> Higher retention and increased customer value.</a:t>
            </a:r>
          </a:p>
          <a:p>
            <a:pPr>
              <a:buNone/>
            </a:pPr>
            <a:r>
              <a:rPr lang="en-US" b="1" dirty="0"/>
              <a:t>2. Mid-Value Customers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Use cross-selling and upselling offers.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Create product bundles.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Provide limited-time promotional incentives.</a:t>
            </a:r>
          </a:p>
          <a:p>
            <a:pPr>
              <a:buNone/>
            </a:pPr>
            <a:r>
              <a:rPr lang="en-US" b="1" dirty="0"/>
              <a:t>Expected impact:</a:t>
            </a:r>
            <a:r>
              <a:rPr lang="en-US" dirty="0"/>
              <a:t> Increase average customer spending and move customers toward higher-value segments.</a:t>
            </a:r>
          </a:p>
          <a:p>
            <a:pPr>
              <a:buNone/>
            </a:pPr>
            <a:r>
              <a:rPr lang="en-US" b="1" dirty="0"/>
              <a:t>3. Lower-Value Customers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Use low-cost promotional campaigns.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Send personalized re-engagement offers.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Promote relevant entry-level products.</a:t>
            </a:r>
          </a:p>
          <a:p>
            <a:pPr>
              <a:buNone/>
            </a:pPr>
            <a:r>
              <a:rPr lang="en-US" b="1" dirty="0"/>
              <a:t>Expected impact:</a:t>
            </a:r>
            <a:r>
              <a:rPr lang="en-US" dirty="0"/>
              <a:t> Improve engagement while controlling marketing costs.</a:t>
            </a:r>
          </a:p>
        </p:txBody>
      </p:sp>
    </p:spTree>
    <p:extLst>
      <p:ext uri="{BB962C8B-B14F-4D97-AF65-F5344CB8AC3E}">
        <p14:creationId xmlns:p14="http://schemas.microsoft.com/office/powerpoint/2010/main" val="2429406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90C519-417E-9B31-F178-1D64D686FDFE}"/>
              </a:ext>
            </a:extLst>
          </p:cNvPr>
          <p:cNvSpPr txBox="1"/>
          <p:nvPr/>
        </p:nvSpPr>
        <p:spPr>
          <a:xfrm>
            <a:off x="1164771" y="1186543"/>
            <a:ext cx="91875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Limitations &amp; Conclusion</a:t>
            </a:r>
          </a:p>
          <a:p>
            <a:pPr>
              <a:buNone/>
            </a:pPr>
            <a:r>
              <a:rPr lang="en-US" b="1" dirty="0"/>
              <a:t>Limitations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dataset does not contain transaction-level order dates.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Transaction frequency and monetary transaction history are not available.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Therefore, complete </a:t>
            </a:r>
            <a:r>
              <a:rPr lang="en-US" b="1" dirty="0"/>
              <a:t>RFM (Recency, Frequency, Monetary)</a:t>
            </a:r>
            <a:r>
              <a:rPr lang="en-US" dirty="0"/>
              <a:t> analysis could not be calculated.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K-Means results are used as supplementary analytical segmentation.</a:t>
            </a:r>
          </a:p>
          <a:p>
            <a:pPr>
              <a:buNone/>
            </a:pPr>
            <a:r>
              <a:rPr lang="en-US" b="1" dirty="0"/>
              <a:t>Conclusion</a:t>
            </a:r>
          </a:p>
          <a:p>
            <a:pPr>
              <a:buNone/>
            </a:pPr>
            <a:r>
              <a:rPr lang="en-US" dirty="0"/>
              <a:t>The analysis provides a structured view of customer groups using demographic and spending-related characteristics. The segmentation can help businesses design more focused marketing, retention and customer-development strategies.</a:t>
            </a:r>
          </a:p>
          <a:p>
            <a:pPr>
              <a:buNone/>
            </a:pPr>
            <a:r>
              <a:rPr lang="en-US" dirty="0"/>
              <a:t>The accompanying Excel workbook contains the detailed segmentation steps, calculations and outputs.</a:t>
            </a:r>
          </a:p>
        </p:txBody>
      </p:sp>
    </p:spTree>
    <p:extLst>
      <p:ext uri="{BB962C8B-B14F-4D97-AF65-F5344CB8AC3E}">
        <p14:creationId xmlns:p14="http://schemas.microsoft.com/office/powerpoint/2010/main" val="24280773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9</TotalTime>
  <Words>541</Words>
  <Application>Microsoft Office PowerPoint</Application>
  <PresentationFormat>Widescreen</PresentationFormat>
  <Paragraphs>77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2026-10-05T15:46:48Z</dcterms:created>
  <dcterms:modified xsi:type="dcterms:W3CDTF">2026-10-05T15:56:03Z</dcterms:modified>
</cp:coreProperties>
</file>